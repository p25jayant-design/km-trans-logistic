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71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5.png"/><Relationship Id="rId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4.png"/><Relationship Id="rId5" Type="http://schemas.openxmlformats.org/officeDocument/2006/relationships/image" Target="../media/image26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5669280" cy="5669280"/>
          </a:xfrm>
          <a:prstGeom prst="ellipse">
            <a:avLst/>
          </a:prstGeom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5120640"/>
            <a:ext cx="3108960" cy="3108960"/>
          </a:xfrm>
          <a:prstGeom prst="ellipse">
            <a:avLst/>
          </a:prstGeom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relaxed-gallant-goldberg/mnt/outputs/icons/truck-navy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-1188720" y="3063240"/>
            <a:ext cx="2743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61208" y="4892040"/>
            <a:ext cx="5669280" cy="0"/>
          </a:xfrm>
          <a:prstGeom prst="line">
            <a:avLst/>
          </a:prstGeom>
          <a:noFill/>
          <a:ln w="12700">
            <a:solidFill>
              <a:srgbClr val="6E8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32608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sessions/relaxed-gallant-goldberg/mnt/outputs/icons/settings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908" y="47777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6684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49928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sessions/relaxed-gallant-goldberg/mnt/outputs/icons/chartline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228" y="477774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841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867248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/sessions/relaxed-gallant-goldberg/mnt/outputs/icons/wallet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548" y="47777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0148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7284568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/sessions/relaxed-gallant-goldberg/mnt/outputs/icons/calendarcheck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868" y="47777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1880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8701888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/sessions/relaxed-gallant-goldberg/mnt/outputs/icons/download-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6188" y="477774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3612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10088575" y="411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6E85AE"/>
            </a:solidFill>
            <a:prstDash val="dash"/>
          </a:ln>
          <a:effectLst>
            <a:outerShdw blurRad="101600" dist="25400" dir="5400000" algn="bl" rotWithShape="0">
              <a:srgbClr val="1329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10088575" y="4114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LOGO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822960" y="19659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SIMULATION  ·  JAIPUR WORKSHOP OPERATIONS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822960" y="23317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Trans Logistics</a:t>
            </a:r>
            <a:endParaRPr lang="en-US" sz="4600" dirty="0"/>
          </a:p>
        </p:txBody>
      </p:sp>
      <p:sp>
        <p:nvSpPr>
          <p:cNvPr id="25" name="Text 17"/>
          <p:cNvSpPr/>
          <p:nvPr/>
        </p:nvSpPr>
        <p:spPr>
          <a:xfrm>
            <a:off x="1280160" y="315468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Control Center — A Step-by-Step Walkthrough of the Simulation Model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[Your Name]      Course:  [Course / Section]      Date:  [Presentation Date]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gallant-goldberg/mnt/outputs/icons/wrench-navy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-365760" y="553212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5400000" algn="bl" rotWithShape="0">
              <a:srgbClr val="13294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34440" y="438912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Started: Navigate &amp; Configure</a:t>
            </a:r>
            <a:endParaRPr lang="en-US" sz="2800" dirty="0"/>
          </a:p>
        </p:txBody>
      </p:sp>
      <p:pic>
        <p:nvPicPr>
          <p:cNvPr id="6" name="Image 1" descr="/sessions/relaxed-gallant-goldberg/mnt/outputs/icons/monitor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973836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3896" y="914400"/>
            <a:ext cx="10189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Page — Configuration Panel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sessions/relaxed-gallant-goldberg/mnt/outputs/icons/setting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177613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856" y="163677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Configuration from the navbar to set the simulation horizon, bay counts, and per-department workforce (High / Medium / Low skill mix).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sessions/relaxed-gallant-goldberg/mnt/outputs/icons/gaug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056291"/>
            <a:ext cx="215067" cy="215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856" y="291693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playback speed — from 30 minutes/second up to 30 days/second — using the navbar speed control.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sessions/relaxed-gallant-goldberg/mnt/outputs/icons/circleplay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33645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3856" y="419709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Simulation to boot the engine and begin live playback of the workshop floor.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029200" y="1600200"/>
            <a:ext cx="6583680" cy="3886200"/>
          </a:xfrm>
          <a:prstGeom prst="roundRect">
            <a:avLst>
              <a:gd name="adj" fmla="val 1882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8028432" y="30403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8211312" y="31409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29200" y="35707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257800" y="4709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 window: navbar (speed control, Run Simulation button) alongside the expanded Configuration panel — Horizon, Bay Configuration, and Workforce sections all visible.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75608" y="5870448"/>
            <a:ext cx="3840480" cy="0"/>
          </a:xfrm>
          <a:prstGeom prst="line">
            <a:avLst/>
          </a:prstGeom>
          <a:noFill/>
          <a:ln w="127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3983584" y="5678424"/>
            <a:ext cx="384048" cy="384048"/>
          </a:xfrm>
          <a:prstGeom prst="ellipse">
            <a:avLst/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/sessions/relaxed-gallant-goldberg/mnt/outputs/icons/setting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074" y="5762915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2688" y="6108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99856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/sessions/relaxed-gallant-goldberg/mnt/outputs/icons/chartline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918" y="5793638"/>
            <a:ext cx="153619" cy="1536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3280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750" dirty="0"/>
          </a:p>
        </p:txBody>
      </p:sp>
      <p:sp>
        <p:nvSpPr>
          <p:cNvPr id="29" name="Shape 20"/>
          <p:cNvSpPr/>
          <p:nvPr/>
        </p:nvSpPr>
        <p:spPr>
          <a:xfrm>
            <a:off x="595868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/sessions/relaxed-gallant-goldberg/mnt/outputs/icons/wallet-mu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038" y="5793638"/>
            <a:ext cx="153619" cy="15361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9292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2" name="Shape 22"/>
          <p:cNvSpPr/>
          <p:nvPr/>
        </p:nvSpPr>
        <p:spPr>
          <a:xfrm>
            <a:off x="691880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/sessions/relaxed-gallant-goldberg/mnt/outputs/icons/calendarcheck-mu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9158" y="5793638"/>
            <a:ext cx="153619" cy="153619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5304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750" dirty="0"/>
          </a:p>
        </p:txBody>
      </p:sp>
      <p:sp>
        <p:nvSpPr>
          <p:cNvPr id="35" name="Shape 24"/>
          <p:cNvSpPr/>
          <p:nvPr/>
        </p:nvSpPr>
        <p:spPr>
          <a:xfrm>
            <a:off x="787892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9" descr="/sessions/relaxed-gallant-goldberg/mnt/outputs/icons/download-mut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9278" y="5793638"/>
            <a:ext cx="153619" cy="153619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51316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3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5400000" algn="bl" rotWithShape="0">
              <a:srgbClr val="13294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Playback: Real-Time KPIs &amp; Charts</a:t>
            </a:r>
            <a:endParaRPr lang="en-US" sz="2800" dirty="0"/>
          </a:p>
        </p:txBody>
      </p:sp>
      <p:pic>
        <p:nvPicPr>
          <p:cNvPr id="5" name="Image 0" descr="/sessions/relaxed-gallant-goldberg/mnt/outputs/icons/monitor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973836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3896" y="914400"/>
            <a:ext cx="10189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Page — KPI Grid &amp; Charts Panel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simulated time advances, every Live KPI card and trend chart — Queue Length, Throughput, Waiting Time, Bay &amp; Worker Utilization — updates continuously. Nothing is refreshed manually.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74036" y="2212848"/>
            <a:ext cx="384048" cy="384048"/>
          </a:xfrm>
          <a:prstGeom prst="ellipse">
            <a:avLst/>
          </a:prstGeom>
          <a:solidFill>
            <a:srgbClr val="132A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relaxed-gallant-goldberg/mnt/outputs/icons/clock3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527" y="2297339"/>
            <a:ext cx="215067" cy="21506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233611" y="2212848"/>
            <a:ext cx="384048" cy="384048"/>
          </a:xfrm>
          <a:prstGeom prst="ellipse">
            <a:avLst/>
          </a:prstGeom>
          <a:solidFill>
            <a:srgbClr val="132A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sessions/relaxed-gallant-goldberg/mnt/outputs/icons/trendingu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8102" y="2297339"/>
            <a:ext cx="215067" cy="21506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2697480"/>
            <a:ext cx="4434840" cy="2834640"/>
          </a:xfrm>
          <a:prstGeom prst="roundRect">
            <a:avLst>
              <a:gd name="adj" fmla="val 2581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473452" y="36118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2656332" y="37124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48640" y="4142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77240" y="4754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Shortly after pressing Run (early in Day 1): workshop floor + KPI grid + charts, values still low.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208215" y="2697480"/>
            <a:ext cx="4434840" cy="2834640"/>
          </a:xfrm>
          <a:prstGeom prst="roundRect">
            <a:avLst>
              <a:gd name="adj" fmla="val 2581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133027" y="36118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315907" y="37124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208215" y="4142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436815" y="4754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playback (Day 10+): same view — queue, throughput, and utilization visibly higher, sparklines populated.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120640" y="3794760"/>
            <a:ext cx="822960" cy="640080"/>
          </a:xfrm>
          <a:prstGeom prst="rightArrow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001768" y="448056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175608" y="5870448"/>
            <a:ext cx="3840480" cy="0"/>
          </a:xfrm>
          <a:prstGeom prst="line">
            <a:avLst/>
          </a:prstGeom>
          <a:noFill/>
          <a:ln w="127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03844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/sessions/relaxed-gallant-goldberg/mnt/outputs/icons/settings-mu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798" y="5793638"/>
            <a:ext cx="153619" cy="15361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67268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4943704" y="5678424"/>
            <a:ext cx="384048" cy="384048"/>
          </a:xfrm>
          <a:prstGeom prst="ellipse">
            <a:avLst/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/sessions/relaxed-gallant-goldberg/mnt/outputs/icons/chartli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194" y="5762915"/>
            <a:ext cx="215067" cy="21506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32808" y="6108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595868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/sessions/relaxed-gallant-goldberg/mnt/outputs/icons/wallet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038" y="5793638"/>
            <a:ext cx="153619" cy="15361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9292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691880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/sessions/relaxed-gallant-goldberg/mnt/outputs/icons/calendarcheck-mu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158" y="5793638"/>
            <a:ext cx="153619" cy="15361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55304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787892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/sessions/relaxed-gallant-goldberg/mnt/outputs/icons/download-mu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9278" y="5793638"/>
            <a:ext cx="153619" cy="153619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51316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gallant-goldberg/mnt/outputs/icons/wallet-navy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-365760" y="553212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5400000" algn="bl" rotWithShape="0">
              <a:srgbClr val="13294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34440" y="438912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Framework: Pricing the Simulation</a:t>
            </a:r>
            <a:endParaRPr lang="en-US" sz="2800" dirty="0"/>
          </a:p>
        </p:txBody>
      </p:sp>
      <p:pic>
        <p:nvPicPr>
          <p:cNvPr id="6" name="Image 1" descr="/sessions/relaxed-gallant-goldberg/mnt/outputs/icons/monitor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973836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3896" y="914400"/>
            <a:ext cx="10189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Page — Workforce Cost &amp; Optimizer Panel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sessions/relaxed-gallant-goldberg/mnt/outputs/icons/wall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177613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856" y="163677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 — blended wage x roster availability x hours, split transparently into Busy and Idle cost.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sessions/relaxed-gallant-goldberg/mnt/outputs/icons/triangleale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056291"/>
            <a:ext cx="215067" cy="215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856" y="291693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Cost — escalates the longer a truck waits: normal rate, then x2, then x4 once delays signal too few bays or workers.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sessions/relaxed-gallant-goldberg/mnt/outputs/icons/sparkle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33645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3856" y="419709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— a one-click, replication-averaged search recommends the lowest-cost workforce for each department.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029200" y="1600200"/>
            <a:ext cx="6583680" cy="3886200"/>
          </a:xfrm>
          <a:prstGeom prst="roundRect">
            <a:avLst>
              <a:gd name="adj" fmla="val 1882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8028432" y="30403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8211312" y="31409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29200" y="35707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257800" y="4709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Cost &amp; Optimizer panel: current-cost stat tiles, the waiting-cost tier breakdown, and (optionally) an optimizer recommendation.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75608" y="5870448"/>
            <a:ext cx="3840480" cy="0"/>
          </a:xfrm>
          <a:prstGeom prst="line">
            <a:avLst/>
          </a:prstGeom>
          <a:noFill/>
          <a:ln w="127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03844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/sessions/relaxed-gallant-goldberg/mnt/outputs/icons/settings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8798" y="5793638"/>
            <a:ext cx="153619" cy="1536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268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99856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/sessions/relaxed-gallant-goldberg/mnt/outputs/icons/chartline-mu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918" y="5793638"/>
            <a:ext cx="153619" cy="1536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3280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750" dirty="0"/>
          </a:p>
        </p:txBody>
      </p:sp>
      <p:sp>
        <p:nvSpPr>
          <p:cNvPr id="29" name="Shape 20"/>
          <p:cNvSpPr/>
          <p:nvPr/>
        </p:nvSpPr>
        <p:spPr>
          <a:xfrm>
            <a:off x="5903824" y="5678424"/>
            <a:ext cx="384048" cy="384048"/>
          </a:xfrm>
          <a:prstGeom prst="ellipse">
            <a:avLst/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/sessions/relaxed-gallant-goldberg/mnt/outputs/icons/wall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314" y="5762915"/>
            <a:ext cx="215067" cy="215067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92928" y="6108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2" name="Shape 22"/>
          <p:cNvSpPr/>
          <p:nvPr/>
        </p:nvSpPr>
        <p:spPr>
          <a:xfrm>
            <a:off x="691880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/sessions/relaxed-gallant-goldberg/mnt/outputs/icons/calendarcheck-mu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9158" y="5793638"/>
            <a:ext cx="153619" cy="153619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5304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750" dirty="0"/>
          </a:p>
        </p:txBody>
      </p:sp>
      <p:sp>
        <p:nvSpPr>
          <p:cNvPr id="35" name="Shape 24"/>
          <p:cNvSpPr/>
          <p:nvPr/>
        </p:nvSpPr>
        <p:spPr>
          <a:xfrm>
            <a:off x="787892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9" descr="/sessions/relaxed-gallant-goldberg/mnt/outputs/icons/download-mut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9278" y="5793638"/>
            <a:ext cx="153619" cy="153619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51316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3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gallant-goldberg/mnt/outputs/icons/calendarcheck-navy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-365760" y="553212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5400000" algn="bl" rotWithShape="0">
              <a:srgbClr val="13294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34440" y="438912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End-of-Day Summary</a:t>
            </a:r>
            <a:endParaRPr lang="en-US" sz="2800" dirty="0"/>
          </a:p>
        </p:txBody>
      </p:sp>
      <p:pic>
        <p:nvPicPr>
          <p:cNvPr id="6" name="Image 1" descr="/sessions/relaxed-gallant-goldberg/mnt/outputs/icons/monitor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973836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3896" y="914400"/>
            <a:ext cx="10189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Day-Complete Overlay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sessions/relaxed-gallant-goldberg/mnt/outputs/icons/calendar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177613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856" y="163677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pauses automatically at the end of every simulated day.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sessions/relaxed-gallant-goldberg/mnt/outputs/icons/listcheck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056291"/>
            <a:ext cx="215067" cy="215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856" y="291693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card reports trucks processed, average waiting time, throughput, bay &amp; worker utilization, and that day's bottleneck.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sessions/relaxed-gallant-goldberg/mnt/outputs/icons/circleplay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33645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3856" y="419709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auto-resumes after a short countdown, or continue immediately with one click.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029200" y="1600200"/>
            <a:ext cx="6583680" cy="3886200"/>
          </a:xfrm>
          <a:prstGeom prst="roundRect">
            <a:avLst>
              <a:gd name="adj" fmla="val 1882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8028432" y="30403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8211312" y="31409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29200" y="35707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257800" y="4709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Complete pop-up: its full KPI summary grid, bottleneck tile, and the Continue / auto-resume countdown.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75608" y="5870448"/>
            <a:ext cx="3840480" cy="0"/>
          </a:xfrm>
          <a:prstGeom prst="line">
            <a:avLst/>
          </a:prstGeom>
          <a:noFill/>
          <a:ln w="127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03844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/sessions/relaxed-gallant-goldberg/mnt/outputs/icons/settings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8798" y="5793638"/>
            <a:ext cx="153619" cy="1536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268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99856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/sessions/relaxed-gallant-goldberg/mnt/outputs/icons/chartline-mu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918" y="5793638"/>
            <a:ext cx="153619" cy="1536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3280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750" dirty="0"/>
          </a:p>
        </p:txBody>
      </p:sp>
      <p:sp>
        <p:nvSpPr>
          <p:cNvPr id="29" name="Shape 20"/>
          <p:cNvSpPr/>
          <p:nvPr/>
        </p:nvSpPr>
        <p:spPr>
          <a:xfrm>
            <a:off x="595868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/sessions/relaxed-gallant-goldberg/mnt/outputs/icons/wallet-mu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9038" y="5793638"/>
            <a:ext cx="153619" cy="15361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9292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2" name="Shape 22"/>
          <p:cNvSpPr/>
          <p:nvPr/>
        </p:nvSpPr>
        <p:spPr>
          <a:xfrm>
            <a:off x="6863944" y="5678424"/>
            <a:ext cx="384048" cy="384048"/>
          </a:xfrm>
          <a:prstGeom prst="ellipse">
            <a:avLst/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8" descr="/sessions/relaxed-gallant-goldberg/mnt/outputs/icons/calendar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434" y="5762915"/>
            <a:ext cx="215067" cy="215067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53048" y="6108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750" dirty="0"/>
          </a:p>
        </p:txBody>
      </p:sp>
      <p:sp>
        <p:nvSpPr>
          <p:cNvPr id="35" name="Shape 24"/>
          <p:cNvSpPr/>
          <p:nvPr/>
        </p:nvSpPr>
        <p:spPr>
          <a:xfrm>
            <a:off x="787892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9" descr="/sessions/relaxed-gallant-goldberg/mnt/outputs/icons/download-mut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9278" y="5793638"/>
            <a:ext cx="153619" cy="153619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51316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3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gallant-goldberg/mnt/outputs/icons/filespreadsheet-navy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-365760" y="553212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5400000" algn="bl" rotWithShape="0">
              <a:srgbClr val="13294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34440" y="438912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&amp; Data Export</a:t>
            </a:r>
            <a:endParaRPr lang="en-US" sz="2800" dirty="0"/>
          </a:p>
        </p:txBody>
      </p:sp>
      <p:pic>
        <p:nvPicPr>
          <p:cNvPr id="6" name="Image 1" descr="/sessions/relaxed-gallant-goldberg/mnt/outputs/icons/monitor-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973836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3896" y="914400"/>
            <a:ext cx="10189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— Simulation Status &amp; Download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sessions/relaxed-gallant-goldberg/mnt/outputs/icons/circlecheckbig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177613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856" y="163677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badge turns Complete once the full simulated horizon has finished running.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sessions/relaxed-gallant-goldberg/mnt/outputs/icons/downloa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056291"/>
            <a:ext cx="215067" cy="215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856" y="291693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 exports the full run as an auditable, formula-driven .xlsx workbook.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sessions/relaxed-gallant-goldberg/mnt/outputs/icons/filespreadshe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33645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3856" y="4197096"/>
            <a:ext cx="3575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exports cover Truck Records, Bay Summary, and Department Summary — each with its own Read Me sheet.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029200" y="160020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336792" y="30403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6519672" y="31409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29200" y="35707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257800" y="4709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at the end of a run: the Complete status badge next to the Download Data button.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339328" y="3268980"/>
            <a:ext cx="502920" cy="548640"/>
          </a:xfrm>
          <a:prstGeom prst="rightArrow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8915400" y="160020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F5F6F8"/>
          </a:solidFill>
          <a:ln w="19050">
            <a:solidFill>
              <a:srgbClr val="9CA8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10222992" y="3040380"/>
            <a:ext cx="585216" cy="420624"/>
          </a:xfrm>
          <a:prstGeom prst="roundRect">
            <a:avLst>
              <a:gd name="adj" fmla="val 10870"/>
            </a:avLst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10405872" y="3140964"/>
            <a:ext cx="219456" cy="219456"/>
          </a:xfrm>
          <a:prstGeom prst="ellipse">
            <a:avLst/>
          </a:prstGeom>
          <a:ln w="254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8915400" y="35707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INSERT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9144000" y="4709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downloaded .xlsx opened in Excel — e.g. the Truck Records or Bay Summary sheet.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175608" y="5870448"/>
            <a:ext cx="3840480" cy="0"/>
          </a:xfrm>
          <a:prstGeom prst="line">
            <a:avLst/>
          </a:prstGeom>
          <a:noFill/>
          <a:ln w="12700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03844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/sessions/relaxed-gallant-goldberg/mnt/outputs/icons/settings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8798" y="5793638"/>
            <a:ext cx="153619" cy="15361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7268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99856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/sessions/relaxed-gallant-goldberg/mnt/outputs/icons/chartline-mu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918" y="5793638"/>
            <a:ext cx="153619" cy="153619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3280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750" dirty="0"/>
          </a:p>
        </p:txBody>
      </p:sp>
      <p:sp>
        <p:nvSpPr>
          <p:cNvPr id="35" name="Shape 26"/>
          <p:cNvSpPr/>
          <p:nvPr/>
        </p:nvSpPr>
        <p:spPr>
          <a:xfrm>
            <a:off x="595868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/sessions/relaxed-gallant-goldberg/mnt/outputs/icons/wallet-mu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9038" y="5793638"/>
            <a:ext cx="153619" cy="153619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9292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6918808" y="57332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8" descr="/sessions/relaxed-gallant-goldberg/mnt/outputs/icons/calendarcheck-mut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9158" y="5793638"/>
            <a:ext cx="153619" cy="153619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53048" y="6053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Summary</a:t>
            </a:r>
            <a:endParaRPr lang="en-US" sz="750" dirty="0"/>
          </a:p>
        </p:txBody>
      </p:sp>
      <p:sp>
        <p:nvSpPr>
          <p:cNvPr id="41" name="Shape 30"/>
          <p:cNvSpPr/>
          <p:nvPr/>
        </p:nvSpPr>
        <p:spPr>
          <a:xfrm>
            <a:off x="7824064" y="5678424"/>
            <a:ext cx="384048" cy="384048"/>
          </a:xfrm>
          <a:prstGeom prst="ellipse">
            <a:avLst/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  <a:effectLst>
            <a:outerShdw blurRad="63500" dist="19050" dir="5400000" algn="bl" rotWithShape="0">
              <a:srgbClr val="13294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9" descr="/sessions/relaxed-gallant-goldberg/mnt/outputs/icons/downloa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8554" y="5762915"/>
            <a:ext cx="215067" cy="215067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513168" y="6108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4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5669280" cy="5669280"/>
          </a:xfrm>
          <a:prstGeom prst="ellipse">
            <a:avLst/>
          </a:prstGeom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108960" cy="3108960"/>
          </a:xfrm>
          <a:prstGeom prst="ellipse">
            <a:avLst/>
          </a:prstGeom>
          <a:ln w="1905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relaxed-gallant-goldberg/mnt/outputs/icons/wrench-white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235440" y="-96012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AF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Trans Logistics — Workshop Control Center  ·  [Live demo / repository link]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Macintosh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 Trans Logistics — Workshop Simulation Model Walkthrough</dc:title>
  <dc:subject>PptxGenJS Presentation</dc:subject>
  <dc:creator>KM Trans Logistics</dc:creator>
  <cp:lastModifiedBy>Pranit Rastogi</cp:lastModifiedBy>
  <cp:revision>2</cp:revision>
  <dcterms:created xsi:type="dcterms:W3CDTF">2026-08-14T09:09:58Z</dcterms:created>
  <dcterms:modified xsi:type="dcterms:W3CDTF">2026-08-14T09:15:54Z</dcterms:modified>
</cp:coreProperties>
</file>